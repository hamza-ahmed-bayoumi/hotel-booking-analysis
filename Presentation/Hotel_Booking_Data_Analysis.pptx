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9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943600" cy="5943600"/>
          </a:xfrm>
          <a:prstGeom prst="ellipse">
            <a:avLst/>
          </a:prstGeom>
          <a:ln w="1905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ln w="1905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ln w="15875">
            <a:solidFill>
              <a:srgbClr val="233F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Booking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booking records to a governed Power BI dashboard — data cleaning, exploratory analysis, feature engineering and business recommendations.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26694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40280" y="516636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864" y="52669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0" y="51663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52669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74920" y="516636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icons/pie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526694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488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Hamza Ahmed Bayoumi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2296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Instant </a:t>
            </a:r>
            <a:r>
              <a:rPr lang="en-US" sz="2000" dirty="0" err="1">
                <a:solidFill>
                  <a:schemeClr val="bg1"/>
                </a:solidFill>
              </a:rPr>
              <a:t>xODC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79BEB5E0-D482-264E-633D-C697A98BA735}"/>
              </a:ext>
            </a:extLst>
          </p:cNvPr>
          <p:cNvSpPr/>
          <p:nvPr/>
        </p:nvSpPr>
        <p:spPr>
          <a:xfrm>
            <a:off x="4523127" y="618591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Instructor : ENG Rawan Mahmoud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9293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26" y="2042038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7099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16002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65392" y="19293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046" y="2042038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5392" y="17099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269480" y="16002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4672" y="33009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26" y="3413638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30815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508760" y="29718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309360" y="29718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65392" y="33009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046" y="3413638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65392" y="30815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269480" y="29718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04672" y="46725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326" y="4785238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4453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508760" y="43434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309360" y="43434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565392" y="46725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icons/pie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8046" y="4785238"/>
            <a:ext cx="286756" cy="2867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65392" y="44531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269480" y="43434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548640" y="57150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804672" y="60441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/home/claude/icons/fla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326" y="6156838"/>
            <a:ext cx="286756" cy="2867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04672" y="58247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508760" y="57150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6309360" y="5715000"/>
            <a:ext cx="54406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6565392" y="6044184"/>
            <a:ext cx="512064" cy="512064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/home/claude/icons/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8046" y="6156838"/>
            <a:ext cx="286756" cy="2867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565392" y="58247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7269480" y="5715000"/>
            <a:ext cx="4251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travel agencies now generate the majority of hotel bookings, but a growing share of those bookings never arrive. This project analyzes 119K+ hotel reservation records across a City Hotel and a Resort Hotel to understand booking behavior, quantify the revenue impact of cancellations, and turn the findings into an interactive Power BI dashboard for ongoing monitoring.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questions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55701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guests and channels cancel the most — and why?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10565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booked revenue is genuinely at risk from cancellations?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65429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bookings should be flagged and managed proactively?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52029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findings be delivered as a self-serve BI dashboard?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60920" y="1554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scale (Power BI)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19659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F3B5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70648" y="2057400"/>
            <a:ext cx="1792224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70648" y="2646274"/>
            <a:ext cx="1792224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 analyzed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82328" y="19659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F3B5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92056" y="2057400"/>
            <a:ext cx="1792224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92056" y="2646274"/>
            <a:ext cx="1792224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cancellation 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F3B5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70648" y="3291840"/>
            <a:ext cx="1792224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€34.46M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70648" y="3880714"/>
            <a:ext cx="1792224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booked revenue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82328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1F3B5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92056" y="3291840"/>
            <a:ext cx="1792224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106.34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592056" y="3880714"/>
            <a:ext cx="1792224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rate (ADR)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60920" y="4526280"/>
            <a:ext cx="4251960" cy="1417320"/>
          </a:xfrm>
          <a:prstGeom prst="roundRect">
            <a:avLst>
              <a:gd name="adj" fmla="val 5161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89520" y="4645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4937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Power BI dashboard (Executive, Customer, Cancellation, Revenue &amp; Room views) backed by a documented Python cleaning and feature-engineering pipeline.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hotel-bookings dataset covering two properties in Portugal: a City Hotel and a Resort Hotel, with arrivals from July 2015 to August 2017 (only 2016 is a complete calendar year).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28016" cy="731520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details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624328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lead time, arrival date, market segment, distribution channel, deposit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28016" cy="731520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20954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details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(week/weekend), room type reserved vs. assigned, meal plan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128016" cy="731520"/>
          </a:xfrm>
          <a:prstGeom prst="roundRect">
            <a:avLst>
              <a:gd name="adj" fmla="val 21429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10565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profile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416552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Adults, children, babies, country, repeat-guest flag, customer 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20056"/>
            <a:ext cx="128016" cy="731520"/>
          </a:xfrm>
          <a:prstGeom prst="roundRect">
            <a:avLst>
              <a:gd name="adj" fmla="val 21429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00176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312664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ADR, special requests, booking changes, agent / company, reservation 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1508760"/>
            <a:ext cx="4251960" cy="44805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3524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size, end to 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119,390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635240" y="250545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loaded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8120" y="2926080"/>
            <a:ext cx="0" cy="128016"/>
          </a:xfrm>
          <a:prstGeom prst="line">
            <a:avLst/>
          </a:prstGeom>
          <a:noFill/>
          <a:ln w="15875">
            <a:solidFill>
              <a:srgbClr val="D5DB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35240" y="3063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87,396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35240" y="346557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31,994 exact duplicates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18120" y="3886200"/>
            <a:ext cx="0" cy="128016"/>
          </a:xfrm>
          <a:prstGeom prst="line">
            <a:avLst/>
          </a:prstGeom>
          <a:noFill/>
          <a:ln w="15875">
            <a:solidFill>
              <a:srgbClr val="D5DB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3524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86,638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35240" y="442569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business-driven outlier treatment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18120" y="4846320"/>
            <a:ext cx="0" cy="128016"/>
          </a:xfrm>
          <a:prstGeom prst="line">
            <a:avLst/>
          </a:prstGeom>
          <a:noFill/>
          <a:ln w="15875">
            <a:solidFill>
              <a:srgbClr val="D5DB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35240" y="4983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cols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635240" y="538581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feature engineering (+35 new features)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CLEANING &amp;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&amp; Missing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2A4A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078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31,994 duplicate rows removed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26.8% of the raw file. Left in place, duplicates inflated the cancellation rate to 37.0% instead of the true 27.5% — the single biggest correction in the project.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7220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treated by business rule, not blind imputation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96596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0" y="196596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0" y="19659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2276856"/>
            <a:ext cx="5486400" cy="566928"/>
          </a:xfrm>
          <a:prstGeom prst="rect">
            <a:avLst/>
          </a:prstGeom>
          <a:solidFill>
            <a:srgbClr val="EF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63640" y="22768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0" y="2276856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82,137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227685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+ missing → "Unknown Company"; else → "No Company"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2843784"/>
            <a:ext cx="54864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284378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0" y="2843784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12,193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284378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channel + missing → "Direct Booking"; else → "Unknown Agent"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72200" y="3410712"/>
            <a:ext cx="5486400" cy="566928"/>
          </a:xfrm>
          <a:prstGeom prst="rect">
            <a:avLst/>
          </a:prstGeom>
          <a:solidFill>
            <a:srgbClr val="EF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63640" y="341071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5200" y="341071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29600" y="341071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as "Unknown" (no reliable inference available)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3977640"/>
            <a:ext cx="54864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63640" y="397764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315200" y="39776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229600" y="39776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0 (count-type field)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37033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77240" y="3886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business rules, not the mode?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77240" y="42062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Cross-tabulating company against market_segment showed nulls cluster in Direct, Online TA and Groups — bookings that structurally never carry a company ID. Filling with the mode would have invented a false corporate signal; encoding the absence instead preserves the real business meaning.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CLEANING &amp;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Treatment: Screen Statistically, Decide Commercially</a:t>
            </a:r>
            <a:endParaRPr lang="en-US" sz="3000" dirty="0"/>
          </a:p>
        </p:txBody>
      </p:sp>
      <p:pic>
        <p:nvPicPr>
          <p:cNvPr id="4" name="Image 0" descr="/home/claude/assets/tukey_fence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074920" cy="1426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6324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blind Tukey-fence rule would have flagged ~26% of bookings as "outliers" — mostly ordinary solo travellers and 2-guest parties. Each flagged column was checked against booking context before any row was touched.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8932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register (sample)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89320" y="1856232"/>
            <a:ext cx="56235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874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5,400 (1 record)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464040" y="191109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464040" y="191109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26480" y="2130552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the next-highest rate — a keying error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9320" y="2514600"/>
            <a:ext cx="56235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0" y="2532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0 (1,778 records)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464040" y="2569464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464040" y="25694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26480" y="27889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of Complementary segment — real comp stays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3172968"/>
            <a:ext cx="56235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26480" y="31912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10–55, Group type (13)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464040" y="322783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464040" y="3227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+ FLAG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26480" y="344728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tour-operator allocation blocks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89320" y="3831336"/>
            <a:ext cx="56235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26480" y="38496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guests / zero nights (817)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464040" y="38862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464040" y="38862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126480" y="410565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occupancy, no revenue — administrative artifacts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4489704"/>
            <a:ext cx="56235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26480" y="4507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30–69 nights (23)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464040" y="454456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464040" y="45445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126480" y="476402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extended-stay contracts at discounted ADR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1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758 rows removed (0.87% of the dataset) — every one a provable non-stay. ADR skewness fell from 10.92 to 0.93 without applying any transformation, because a single erroneous record was removed rather than masked.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&amp; Composition Insights</a:t>
            </a:r>
            <a:endParaRPr lang="en-US" sz="3000" dirty="0"/>
          </a:p>
        </p:txBody>
      </p:sp>
      <p:pic>
        <p:nvPicPr>
          <p:cNvPr id="4" name="Image 0" descr="/home/claude/assets/adr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57784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99923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single erroneous €5,400 booking (not a transform) fixed ADR's shape — skew fell from 10.92 to 0.93.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0" y="150876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 —  </a:t>
            </a: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80 days vs. median 50 — a long tail of early planners on top of a large same-day mass (mode 0).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226771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concentration  —  </a:t>
            </a: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 is 59.2% of all bookings; travel agents/operators account for 79.2% of distribution overall.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3026664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policy  —  </a:t>
            </a: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of bookings carry No Deposit — hotels take almost no financial guarantee on the average booking.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0" y="3785616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mix  —  </a:t>
            </a: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 Transient (independent) guests; Contract and Group business is only 4.2% combined.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87,396 → 86,638. </a:t>
            </a:r>
            <a:r>
              <a:rPr lang="en-US" sz="11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zero duplicates, zero missing cells, class balance 27.7% cancelled — imbalanced but workable for descriptive analysis without resampling.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 Cancellation</a:t>
            </a:r>
            <a:endParaRPr lang="en-US" sz="3000" dirty="0"/>
          </a:p>
        </p:txBody>
      </p:sp>
      <p:pic>
        <p:nvPicPr>
          <p:cNvPr id="4" name="Image 0" descr="/home/claude/assets/leadtim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49240" cy="1572768"/>
          </a:xfrm>
          <a:prstGeom prst="rect">
            <a:avLst/>
          </a:prstGeom>
        </p:spPr>
      </p:pic>
      <p:pic>
        <p:nvPicPr>
          <p:cNvPr id="5" name="Image 1" descr="/home/claude/assets/deposit_type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08760"/>
            <a:ext cx="5349240" cy="15727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2004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the strongest continuous driver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35204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rises monotonically from 6.0% (same-day) to 41.0% (over a year out) — a 6.8x spread. Risk nearly triples between the 1–7 day and 8–30 day windows.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80760" y="32004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type: the most surprising number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080760" y="35204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Refund bookings cancel at 94.7% vs. 26.9% for No Deposit. This isn't causal — deposits are applied to bookings already judged risky (long lead time, domestic guests), not a deterrent.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signal:  </a:t>
            </a:r>
            <a:r>
              <a:rPr lang="en-US" sz="12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 are the cleanest predictor in the data — cancellation falls monotonically from 33.5% (0 requests) to 5.6% (5 requests), independent of lead time.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Interaction: Guest Origin x Channel</a:t>
            </a:r>
            <a:endParaRPr lang="en-US" sz="3000" dirty="0"/>
          </a:p>
        </p:txBody>
      </p:sp>
      <p:pic>
        <p:nvPicPr>
          <p:cNvPr id="4" name="Image 0" descr="/home/claude/assets/hotel_segment_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9496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hides the real risk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72200" y="190195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is 31% of bookings and cancels at 36.4% vs. 23.8% internationally — but the channel interaction is far sharper than that average suggests: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72200" y="26060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01000" y="260604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Int'l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0" y="26060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424160" y="260604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2935224"/>
            <a:ext cx="5394960" cy="329184"/>
          </a:xfrm>
          <a:prstGeom prst="rect">
            <a:avLst/>
          </a:prstGeom>
          <a:solidFill>
            <a:srgbClr val="EF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72200" y="29352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01000" y="2935224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0" y="29352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424160" y="2935224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37x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3264408"/>
            <a:ext cx="5394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72200" y="32644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TA/TO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001000" y="326440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4000" y="3264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424160" y="326440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89x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72200" y="3593592"/>
            <a:ext cx="5394960" cy="329184"/>
          </a:xfrm>
          <a:prstGeom prst="rect">
            <a:avLst/>
          </a:prstGeom>
          <a:solidFill>
            <a:srgbClr val="EF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72200" y="3593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001000" y="35935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144000" y="3593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424160" y="359359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72200" y="3922776"/>
            <a:ext cx="5394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72200" y="39227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01000" y="392277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144000" y="3922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424160" y="392277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7220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DF1EC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00800" y="461772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actionable finding:  </a:t>
            </a: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6,700 domestic Group and Offline TA/TO bookings drive this gap — a targetable book of business that leaves the reliable international base untouched.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New Features, Each Justified by an EDA Finding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105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&amp; value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03911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total_nights, total_guests, adr_per_guest, total_revenue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guest_composition (Solo / Couple / Family)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15087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81928" y="170992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8105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03720" y="203911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arrival_date, arrival_quarter, booking_season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is_high_season, is_weekend_arrival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5021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83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&amp; source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71600" y="373075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previous_cancel_ratio, is_repeat_customer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booking_source_group (6 managed channels)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80760" y="320040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A"/>
            </a:solidFill>
            <a:prstDash val="solid"/>
          </a:ln>
          <a:effectLst>
            <a:outerShdw blurRad="63500" dist="25400" dir="5400000" algn="bl" rotWithShape="0">
              <a:srgbClr val="1F3B57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81928" y="3401568"/>
            <a:ext cx="457200" cy="457200"/>
          </a:xfrm>
          <a:prstGeom prst="ellipse">
            <a:avLst/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fl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5021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383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Data-integrity flags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03720" y="373075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is_group_block, is_child_only_record, is_zero_rated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cancellation_risk_score (composite, see next slide)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521208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icons/al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53126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07492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guardrail:  </a:t>
            </a:r>
            <a:r>
              <a:rPr lang="en-US" sz="11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reservation_status, required_car_parking_spaces and room_changed were excluded from any predictive use — each is only known after check-in and would leak the outcome (e.g. parking spaces = 0 cancellations in 7,290 bookings, because parking is assigned on arrival).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Cancellation Risk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additive, leakage-free score built only from information known at booking time — lead time, deposit type, prior cancellations, channel and guest origin — weighted by each signal's observed effect size.</a:t>
            </a:r>
            <a:endParaRPr lang="en-US" sz="1200" dirty="0"/>
          </a:p>
        </p:txBody>
      </p:sp>
      <p:pic>
        <p:nvPicPr>
          <p:cNvPr id="5" name="Image 0" descr="/home/claude/assets/risk_ti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5486400" cy="1609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26680" y="21488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961120" y="2148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96696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55080" y="2450592"/>
            <a:ext cx="4892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5080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26680" y="245059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961120" y="24505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96696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2816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26680" y="281635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31,265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61120" y="28163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966960" y="28163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3182112"/>
            <a:ext cx="48920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55080" y="31821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26680" y="31821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35,052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961120" y="31821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966960" y="31821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31.5%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55080" y="3547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26680" y="35478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13,278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961120" y="35478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966960" y="35478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66.0%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355080" y="40050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18.2x lift from Low to Very High — a smooth, monotone curve with no inversions.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DF1EC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value:  </a:t>
            </a:r>
            <a:r>
              <a:rPr lang="en-US" sz="11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High tier is 15.3% of bookings but carries €6.8m of booked revenue at a 66% failure rate — small enough to manage by hand with reconfirmation calls or deposit terms.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POWER BI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360920" cy="4498848"/>
          </a:xfrm>
          <a:prstGeom prst="roundRect">
            <a:avLst>
              <a:gd name="adj" fmla="val 1016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  <a:effectLst>
            <a:outerShdw blurRad="101600" dist="38100" dir="5400000" algn="bl" rotWithShape="0">
              <a:srgbClr val="1F3B57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dash_execu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91056"/>
            <a:ext cx="7141464" cy="4279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148132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interactive report — Executive, Customer, Cancellation and Revenue &amp; Room views — filterable by hotel, month, customer type and country.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138160" y="2331720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321040" y="233172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84080" y="23317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138160" y="309067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321040" y="309067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84080" y="309067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138160" y="384962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21040" y="384962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€34.46M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784080" y="3849624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38160" y="460857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21040" y="460857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106.34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784080" y="460857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38160" y="536752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1F3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21040" y="536752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784080" y="536752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stay (nights)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POWER BI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Customer, Cancellation &amp; Revenue 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  <a:effectLst>
            <a:outerShdw blurRad="76200" dist="25400" dir="5400000" algn="bl" rotWithShape="0">
              <a:srgbClr val="1F3B5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dash_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465576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148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segment, meal preference, distribution channel and repeat-guest rate (3.9%).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6118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  <a:effectLst>
            <a:outerShdw blurRad="76200" dist="25400" dir="5400000" algn="bl" rotWithShape="0">
              <a:srgbClr val="1F3B5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assets/dash_cancel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627632"/>
            <a:ext cx="3465576" cy="2331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41148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Analysis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343400" y="44348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lead time, deposit type and market segment, month by month.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38160" y="1554480"/>
            <a:ext cx="361188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  <a:effectLst>
            <a:outerShdw blurRad="76200" dist="25400" dir="5400000" algn="bl" rotWithShape="0">
              <a:srgbClr val="1F3B5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assets/dash_re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627632"/>
            <a:ext cx="3465576" cy="23317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41148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Room Analysis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138160" y="44348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trends, revenue by market segment and room-type performance by hotel.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 </a:t>
            </a:r>
            <a:r>
              <a:rPr lang="en-US" sz="11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card KPIs and a single sage/forest palette across all four pages so filters (hotel, month, customer type, country) read the same way on every view.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KEY BUSINESS INSIGHTS &amp;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6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Drivers &amp; Recommended Actions</a:t>
            </a:r>
            <a:endParaRPr lang="en-US" sz="2700" dirty="0"/>
          </a:p>
        </p:txBody>
      </p:sp>
      <p:pic>
        <p:nvPicPr>
          <p:cNvPr id="4" name="Image 0" descr="/home/claude/assets/cell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212080" cy="2862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of each driver vs. baseline (percentage-point gap). Non-refundable deposit and prior cancellations are reactive markers; domestic-Groups is the most directly actionable.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8932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89320" y="1810512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1810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0" y="175564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partial deposit or 72-hr reconfirmation for domestic Group / Offline TA/TO bookings (~6,700 bookings, the single most targetable segment).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2523744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2523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246888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Very High risk tier (13,278 bookings, 66% cancel, €6.8m) as an active book with reconfirmation contact.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236976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3236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182112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OTA volume toward Direct — OTA loses 42% of booked revenue vs. 19% for Direct at a comparable rate.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89320" y="3950208"/>
            <a:ext cx="292608" cy="29260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9320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389534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 guest preferences on long-lead bookings; special requests cut cancellation nearly in half.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4663440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89320" y="4663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460857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deposit policy from flat to seasonal — summer carries both peak cancellation risk and peak revenue.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 Analysis  |  Hamza Ahmed Bayoumi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486400" cy="5486400"/>
          </a:xfrm>
          <a:prstGeom prst="ellipse">
            <a:avLst/>
          </a:prstGeom>
          <a:ln w="19050">
            <a:solidFill>
              <a:srgbClr val="2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3840480"/>
            <a:ext cx="4754880" cy="4754880"/>
          </a:xfrm>
          <a:prstGeom prst="ellipse">
            <a:avLst/>
          </a:prstGeom>
          <a:ln w="15875">
            <a:solidFill>
              <a:srgbClr val="233F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119K Raw Rows to a Governed BI Asset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86,638 x 67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88920" y="19933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feature-rich analysis-ready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€11.24M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75320" y="19933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exposure quantified and traced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29992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lift from the composite cancellation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4-page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75320" y="29992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ongoing monitoring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the full analyst workflow end to end: business-driven data cleaning, structured EDA, justified feature engineering, and translating findings into both quantified recommendations and a self-serve dashboard non-technical stakeholders can use.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6" y="5531206"/>
            <a:ext cx="230429" cy="230429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508760" y="544068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/home/claude/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286" y="5531206"/>
            <a:ext cx="230429" cy="23042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194560" y="544068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/home/claude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086" y="5531206"/>
            <a:ext cx="230429" cy="230429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880360" y="544068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icons/pie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0886" y="5531206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Ahmed Bayoumi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961120" y="6035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2122</TotalTime>
  <Words>1964</Words>
  <Application>Microsoft Office PowerPoint</Application>
  <PresentationFormat>Widescreen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200054435-Hamza Ahmed Bayoumi Abdel Hadi</cp:lastModifiedBy>
  <cp:revision>2</cp:revision>
  <dcterms:created xsi:type="dcterms:W3CDTF">2026-07-30T07:39:19Z</dcterms:created>
  <dcterms:modified xsi:type="dcterms:W3CDTF">2026-07-31T22:39:13Z</dcterms:modified>
</cp:coreProperties>
</file>